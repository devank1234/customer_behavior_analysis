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embeddedFontLst>
    <p:embeddedFont>
      <p:font typeface="DM Sans SemiBold"/>
      <p:regular r:id="rId18"/>
    </p:embeddedFont>
    <p:embeddedFont>
      <p:font typeface="DM Sans Bold"/>
      <p:regular r:id="rId19"/>
    </p:embeddedFont>
    <p:embeddedFont>
      <p:font typeface="Inter Medium"/>
      <p:regular r:id="rId20"/>
    </p:embeddedFont>
    <p:embeddedFont>
      <p:font typeface="Inter Bold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2.xml"/><Relationship Id="rId7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602358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Customer Shopping Behavior Analysis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2563490"/>
            <a:ext cx="4722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comprehensive data-driven study of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3,900 transactions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across product categories — uncovering spending patterns, customer segments, product preferences, and subscription behavior to guide strategic business decisions.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3925119" y="3303166"/>
            <a:ext cx="1407244" cy="233214"/>
          </a:xfrm>
          <a:prstGeom prst="roundRect">
            <a:avLst>
              <a:gd name="adj" fmla="val 6383"/>
            </a:avLst>
          </a:prstGeom>
          <a:solidFill>
            <a:srgbClr val="D4F7EC"/>
          </a:solidFill>
          <a:ln/>
        </p:spPr>
      </p:sp>
      <p:sp>
        <p:nvSpPr>
          <p:cNvPr id="6" name="Text 3"/>
          <p:cNvSpPr/>
          <p:nvPr/>
        </p:nvSpPr>
        <p:spPr>
          <a:xfrm>
            <a:off x="3999533" y="3340373"/>
            <a:ext cx="1715616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DATA ANALYSIS PROJECT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394350" y="3298403"/>
            <a:ext cx="1425773" cy="242739"/>
          </a:xfrm>
          <a:prstGeom prst="roundRect">
            <a:avLst>
              <a:gd name="adj" fmla="val 6132"/>
            </a:avLst>
          </a:prstGeom>
          <a:noFill/>
          <a:ln w="4763">
            <a:solidFill>
              <a:srgbClr val="1C977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73526" y="3340373"/>
            <a:ext cx="1724620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PYTHON · SQL · POWER BI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351904"/>
            <a:ext cx="3364483" cy="363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Dataset at a Glance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65162" y="933301"/>
            <a:ext cx="8213675" cy="360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dataset contains </a:t>
            </a:r>
            <a:pPr algn="l" indent="0" marL="0">
              <a:lnSpc>
                <a:spcPct val="129000"/>
              </a:lnSpc>
              <a:buNone/>
            </a:pPr>
            <a:r>
              <a:rPr lang="en-US" sz="9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3,900 rows</a:t>
            </a:r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and </a:t>
            </a:r>
            <a:pPr algn="l" indent="0" marL="0">
              <a:lnSpc>
                <a:spcPct val="129000"/>
              </a:lnSpc>
              <a:buNone/>
            </a:pPr>
            <a:r>
              <a:rPr lang="en-US" sz="9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18 columns</a:t>
            </a:r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covering customer demographics, purchase details, and shopping behavior. Only 37 values were missing — all in the Review Rating column.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65162" y="1474515"/>
            <a:ext cx="4038674" cy="383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0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3,900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757660" y="1998092"/>
            <a:ext cx="1453604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Total Purchases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5162" y="2245147"/>
            <a:ext cx="4038674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Transactional records analyzed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640089" y="1474515"/>
            <a:ext cx="4038749" cy="383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0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18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932661" y="1998092"/>
            <a:ext cx="1453604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Features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40089" y="2245147"/>
            <a:ext cx="4038749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Columns spanning demographics, purchases, and behavior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5162" y="2701528"/>
            <a:ext cx="4038674" cy="383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0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37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757660" y="3225105"/>
            <a:ext cx="1453604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5162" y="3472160"/>
            <a:ext cx="4038674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All in Review Rating — imputed by category median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40089" y="2701528"/>
            <a:ext cx="4038749" cy="383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0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25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932661" y="3225105"/>
            <a:ext cx="1453604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Unique Items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40089" y="3472160"/>
            <a:ext cx="4038749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Products across 4 categories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1446" y="3775025"/>
            <a:ext cx="4132436" cy="1016571"/>
          </a:xfrm>
          <a:prstGeom prst="roundRect">
            <a:avLst>
              <a:gd name="adj" fmla="val 1716"/>
            </a:avLst>
          </a:prstGeom>
          <a:solidFill>
            <a:srgbClr val="1C9770"/>
          </a:solidFill>
          <a:ln/>
        </p:spPr>
      </p:sp>
      <p:sp>
        <p:nvSpPr>
          <p:cNvPr id="17" name="Text 15"/>
          <p:cNvSpPr/>
          <p:nvPr/>
        </p:nvSpPr>
        <p:spPr>
          <a:xfrm>
            <a:off x="497681" y="3884042"/>
            <a:ext cx="1910804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Demographics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7681" y="4174703"/>
            <a:ext cx="3899967" cy="398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9000"/>
              </a:lnSpc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Age, Gender, Location</a:t>
            </a:r>
            <a:endParaRPr lang="en-US" sz="900" dirty="0"/>
          </a:p>
          <a:p>
            <a:pPr algn="l" marL="342900" indent="-342900">
              <a:lnSpc>
                <a:spcPct val="129000"/>
              </a:lnSpc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Subscription Status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18596" y="3884042"/>
            <a:ext cx="1910804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Purchase &amp; Behavior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18596" y="4174703"/>
            <a:ext cx="3965004" cy="578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9000"/>
              </a:lnSpc>
              <a:buSzPct val="100000"/>
              <a:buChar char="•"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Item, Category, Amount, Season, Size, Color</a:t>
            </a:r>
            <a:endParaRPr lang="en-US" sz="900" dirty="0"/>
          </a:p>
          <a:p>
            <a:pPr algn="l" marL="342900" indent="-342900">
              <a:lnSpc>
                <a:spcPct val="129000"/>
              </a:lnSpc>
              <a:buSzPct val="100000"/>
              <a:buChar char="•"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Discount, Previous Purchases, Frequency, Review Rating, Shipping Type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78610" y="330175"/>
            <a:ext cx="4096048" cy="351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Data Preparation in Python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878610" y="834256"/>
            <a:ext cx="48157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analysis pipeline began in Python with pandas for data loading, cleaning, and feature engineering before loading into MySQL.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878610" y="1291754"/>
            <a:ext cx="224805" cy="1404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01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3878610" y="1468487"/>
            <a:ext cx="4815780" cy="14288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7" name="Text 4"/>
          <p:cNvSpPr/>
          <p:nvPr/>
        </p:nvSpPr>
        <p:spPr>
          <a:xfrm>
            <a:off x="3878610" y="1553245"/>
            <a:ext cx="1405161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Load &amp; Explore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878610" y="1789956"/>
            <a:ext cx="481578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Imported dataset with pandas; used </a:t>
            </a:r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and </a:t>
            </a:r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for structure and statistics.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3878610" y="2157115"/>
            <a:ext cx="224805" cy="1404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02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878610" y="2333848"/>
            <a:ext cx="4815780" cy="14288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11" name="Text 8"/>
          <p:cNvSpPr/>
          <p:nvPr/>
        </p:nvSpPr>
        <p:spPr>
          <a:xfrm>
            <a:off x="3878610" y="2418606"/>
            <a:ext cx="1405161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Handle Missing Data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878610" y="2655317"/>
            <a:ext cx="481578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Imputed 37 missing Review Rating values using the </a:t>
            </a:r>
            <a:pPr algn="l" indent="0" marL="0">
              <a:lnSpc>
                <a:spcPct val="127000"/>
              </a:lnSpc>
              <a:buNone/>
            </a:pPr>
            <a:r>
              <a:rPr lang="en-US" sz="8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median rating per product category</a:t>
            </a:r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878610" y="3012951"/>
            <a:ext cx="224805" cy="1404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03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878610" y="3189684"/>
            <a:ext cx="4815780" cy="14288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15" name="Text 12"/>
          <p:cNvSpPr/>
          <p:nvPr/>
        </p:nvSpPr>
        <p:spPr>
          <a:xfrm>
            <a:off x="3878610" y="3274442"/>
            <a:ext cx="1581448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Standardize &amp; Engineer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878610" y="3511153"/>
            <a:ext cx="481578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Renamed columns to </a:t>
            </a:r>
            <a:pPr algn="l" indent="0" marL="0">
              <a:lnSpc>
                <a:spcPct val="127000"/>
              </a:lnSpc>
              <a:buNone/>
            </a:pPr>
            <a:r>
              <a:rPr lang="en-US" sz="8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snake_case</a:t>
            </a:r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; created </a:t>
            </a:r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bins and </a:t>
            </a:r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 Verified </a:t>
            </a:r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discount_applied</a:t>
            </a:r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and </a:t>
            </a:r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were redundant — dropped the latter.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878610" y="4059287"/>
            <a:ext cx="224805" cy="1404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04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878610" y="4236021"/>
            <a:ext cx="4815780" cy="14288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19" name="Text 16"/>
          <p:cNvSpPr/>
          <p:nvPr/>
        </p:nvSpPr>
        <p:spPr>
          <a:xfrm>
            <a:off x="3878610" y="4320778"/>
            <a:ext cx="1424360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Database Integration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878610" y="4557489"/>
            <a:ext cx="481578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Connected Python to </a:t>
            </a:r>
            <a:pPr algn="l" indent="0" marL="0">
              <a:lnSpc>
                <a:spcPct val="127000"/>
              </a:lnSpc>
              <a:buNone/>
            </a:pPr>
            <a:r>
              <a:rPr lang="en-US" sz="8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MySQL</a:t>
            </a:r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and loaded the cleaned DataFrame for SQL analysis.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610" y="329059"/>
            <a:ext cx="7594327" cy="351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Revenue by Gender &amp; High-Spending Discount Users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49610" y="935013"/>
            <a:ext cx="1862361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Revenue by Gender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610" y="1225228"/>
            <a:ext cx="3985245" cy="28685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49610" y="4208413"/>
            <a:ext cx="398524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Male customers generated </a:t>
            </a:r>
            <a:pPr algn="l" indent="0" marL="0">
              <a:lnSpc>
                <a:spcPct val="127000"/>
              </a:lnSpc>
              <a:buNone/>
            </a:pPr>
            <a:r>
              <a:rPr lang="en-US" sz="8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$157,890</a:t>
            </a:r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in revenue — more than double female customers at </a:t>
            </a:r>
            <a:pPr algn="l" indent="0" marL="0">
              <a:lnSpc>
                <a:spcPct val="127000"/>
              </a:lnSpc>
              <a:buNone/>
            </a:pPr>
            <a:r>
              <a:rPr lang="en-US" sz="8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$75,191</a:t>
            </a:r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 This aligns with the gender split: 2,652 male vs. 1,248 female records.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713908" y="935013"/>
            <a:ext cx="2533427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High-Spending Discount Users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713908" y="1212503"/>
            <a:ext cx="398524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Customers who used discounts but still spent </a:t>
            </a:r>
            <a:pPr algn="l" indent="0" marL="0">
              <a:lnSpc>
                <a:spcPct val="127000"/>
              </a:lnSpc>
              <a:buNone/>
            </a:pPr>
            <a:r>
              <a:rPr lang="en-US" sz="8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above the average purchase amount</a:t>
            </a:r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($59.76) represent high-value, deal-seeking shoppers — a prime segment for loyalty incentives.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713908" y="1841450"/>
            <a:ext cx="3985245" cy="2776091"/>
          </a:xfrm>
          <a:prstGeom prst="roundRect">
            <a:avLst>
              <a:gd name="adj" fmla="val 607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31110" y="1912069"/>
            <a:ext cx="221791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Customer ID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821314" y="1912069"/>
            <a:ext cx="221791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Purchase Amount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831110" y="2219995"/>
            <a:ext cx="221791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821314" y="2219995"/>
            <a:ext cx="221791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$64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831110" y="2527920"/>
            <a:ext cx="221791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3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821314" y="2527920"/>
            <a:ext cx="221791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$73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831110" y="2835846"/>
            <a:ext cx="221791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4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821314" y="2835846"/>
            <a:ext cx="221791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$90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831110" y="3143771"/>
            <a:ext cx="221791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7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821314" y="3143771"/>
            <a:ext cx="221791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$85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831110" y="3451696"/>
            <a:ext cx="221791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9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821314" y="3451696"/>
            <a:ext cx="221791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$97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831110" y="3759622"/>
            <a:ext cx="221791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12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821314" y="3759622"/>
            <a:ext cx="221791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$68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831110" y="4067547"/>
            <a:ext cx="221791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13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821314" y="4067547"/>
            <a:ext cx="221791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$72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831110" y="4375472"/>
            <a:ext cx="221791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16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821314" y="4375472"/>
            <a:ext cx="221791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$81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349" y="399455"/>
            <a:ext cx="6019651" cy="357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Top-Rated Products &amp; Shipping Analysis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57349" y="1020291"/>
            <a:ext cx="2755776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Top 5 Products by Average Rating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349" y="1317501"/>
            <a:ext cx="3975199" cy="28613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349" y="4297412"/>
            <a:ext cx="3975199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Overall average rating: </a:t>
            </a:r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3.75</a:t>
            </a:r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 Top products cluster tightly between 3.78–3.86, indicating consistent customer satisfaction across categories.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633913" y="914921"/>
            <a:ext cx="4139803" cy="3829050"/>
          </a:xfrm>
          <a:prstGeom prst="roundRect">
            <a:avLst>
              <a:gd name="adj" fmla="val 448"/>
            </a:avLst>
          </a:prstGeom>
          <a:solidFill>
            <a:srgbClr val="1C9770"/>
          </a:solidFill>
          <a:ln/>
        </p:spPr>
      </p:sp>
      <p:sp>
        <p:nvSpPr>
          <p:cNvPr id="7" name="Text 4"/>
          <p:cNvSpPr/>
          <p:nvPr/>
        </p:nvSpPr>
        <p:spPr>
          <a:xfrm>
            <a:off x="4748213" y="1020291"/>
            <a:ext cx="2306017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Shipping Type Comparison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748213" y="1304330"/>
            <a:ext cx="3911203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Express shipping customers spend slightly more on average than Standard shipping customers — a meaningful signal for targeting.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748213" y="1774552"/>
            <a:ext cx="1902916" cy="688479"/>
          </a:xfrm>
          <a:prstGeom prst="roundRect">
            <a:avLst>
              <a:gd name="adj" fmla="val 2491"/>
            </a:avLst>
          </a:prstGeom>
          <a:solidFill>
            <a:srgbClr val="F2EEEE"/>
          </a:solidFill>
          <a:ln/>
        </p:spPr>
      </p:sp>
      <p:sp>
        <p:nvSpPr>
          <p:cNvPr id="10" name="Text 7"/>
          <p:cNvSpPr/>
          <p:nvPr/>
        </p:nvSpPr>
        <p:spPr>
          <a:xfrm>
            <a:off x="4862513" y="1888852"/>
            <a:ext cx="1429420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Express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862513" y="2172891"/>
            <a:ext cx="1674316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Avg. Purchase: </a:t>
            </a:r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$60.48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756499" y="1774552"/>
            <a:ext cx="1902916" cy="688479"/>
          </a:xfrm>
          <a:prstGeom prst="roundRect">
            <a:avLst>
              <a:gd name="adj" fmla="val 2491"/>
            </a:avLst>
          </a:prstGeom>
          <a:solidFill>
            <a:srgbClr val="F2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6870799" y="1888852"/>
            <a:ext cx="1429420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Standard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870799" y="2172891"/>
            <a:ext cx="1674316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Avg. Purchase: </a:t>
            </a:r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$58.46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748213" y="2581573"/>
            <a:ext cx="3911203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Express users spend </a:t>
            </a:r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$2.02 more</a:t>
            </a:r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per transaction on average — a segment worth targeting with premium offers.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26531" y="724421"/>
            <a:ext cx="291293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Subscribers vs. Non-Subscribers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126531" y="980256"/>
            <a:ext cx="4890939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While subscribers represent only </a:t>
            </a:r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27%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of customers (1,053 vs. 2,847 non-subscribers), their behavior reveals a key opportunity: non-subscribers drive </a:t>
            </a:r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73% of total revenue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but have a slightly higher average spend ($59.87 vs. $59.49), suggesting untapped conversion potential.</a:t>
            </a:r>
            <a:endParaRPr lang="en-US" sz="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6531" y="1163762"/>
            <a:ext cx="4890939" cy="27388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126531" y="3937471"/>
            <a:ext cx="1609651" cy="481533"/>
          </a:xfrm>
          <a:prstGeom prst="roundRect">
            <a:avLst>
              <a:gd name="adj" fmla="val 1932"/>
            </a:avLst>
          </a:prstGeom>
          <a:solidFill>
            <a:srgbClr val="FFFFFF"/>
          </a:solidFill>
          <a:ln w="9525">
            <a:solidFill>
              <a:srgbClr val="D8D4D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198043" y="4008983"/>
            <a:ext cx="775246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Average Spend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2198043" y="4124474"/>
            <a:ext cx="1466627" cy="223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Subscribers: </a:t>
            </a:r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$59.49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| Non-Subscribers: </a:t>
            </a:r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$59.87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nearly identical, indicating subscription status doesn't significantly affect per-transaction value.</a:t>
            </a:r>
            <a:endParaRPr lang="en-US" sz="450" dirty="0"/>
          </a:p>
        </p:txBody>
      </p:sp>
      <p:sp>
        <p:nvSpPr>
          <p:cNvPr id="8" name="Shape 5"/>
          <p:cNvSpPr/>
          <p:nvPr/>
        </p:nvSpPr>
        <p:spPr>
          <a:xfrm>
            <a:off x="3767137" y="3937471"/>
            <a:ext cx="1609651" cy="481533"/>
          </a:xfrm>
          <a:prstGeom prst="roundRect">
            <a:avLst>
              <a:gd name="adj" fmla="val 1932"/>
            </a:avLst>
          </a:prstGeom>
          <a:solidFill>
            <a:srgbClr val="FFFFFF"/>
          </a:solidFill>
          <a:ln w="9525">
            <a:solidFill>
              <a:srgbClr val="D8D4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38649" y="4008983"/>
            <a:ext cx="775246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Revenue Share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3838649" y="4124474"/>
            <a:ext cx="1466627" cy="223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Non-subscribers account for </a:t>
            </a:r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73% of total revenue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($170,436). Converting even a fraction would significantly boost recurring revenue.</a:t>
            </a:r>
            <a:endParaRPr lang="en-US" sz="450" dirty="0"/>
          </a:p>
        </p:txBody>
      </p:sp>
      <p:sp>
        <p:nvSpPr>
          <p:cNvPr id="11" name="Shape 8"/>
          <p:cNvSpPr/>
          <p:nvPr/>
        </p:nvSpPr>
        <p:spPr>
          <a:xfrm>
            <a:off x="5407744" y="3937471"/>
            <a:ext cx="1609725" cy="481533"/>
          </a:xfrm>
          <a:prstGeom prst="roundRect">
            <a:avLst>
              <a:gd name="adj" fmla="val 1932"/>
            </a:avLst>
          </a:prstGeom>
          <a:solidFill>
            <a:srgbClr val="FFFFFF"/>
          </a:solidFill>
          <a:ln w="9525">
            <a:solidFill>
              <a:srgbClr val="D8D4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79256" y="4008983"/>
            <a:ext cx="775246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Repeat Buyers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5479256" y="4124474"/>
            <a:ext cx="1466701" cy="223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Of customers with </a:t>
            </a:r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&gt;5 purchases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2,518 are non-subscribers vs. 958 subscribers — a large pool for subscription conversion campaigns.</a:t>
            </a:r>
            <a:endParaRPr lang="en-US" sz="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643" y="335310"/>
            <a:ext cx="7629674" cy="320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Discount-Dependent Products &amp; Customer Segmentation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21643" y="868859"/>
            <a:ext cx="2736503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Top 5 Discount-Dependent Products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21643" y="1114425"/>
            <a:ext cx="3924970" cy="300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These products had the </a:t>
            </a:r>
            <a:pPr algn="l" indent="0" marL="0">
              <a:lnSpc>
                <a:spcPct val="122000"/>
              </a:lnSpc>
              <a:buNone/>
            </a:pPr>
            <a:r>
              <a:rPr lang="en-US" sz="8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highest percentage of purchases with discounts applied</a:t>
            </a:r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indicating strong price sensitivity.</a:t>
            </a:r>
            <a:endParaRPr lang="en-US" sz="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643" y="1510457"/>
            <a:ext cx="3924970" cy="28252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02001" y="868859"/>
            <a:ext cx="1969517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Customer Segmentation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702001" y="1114425"/>
            <a:ext cx="3924970" cy="300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Customers classified into </a:t>
            </a:r>
            <a:pPr algn="l" indent="0" marL="0">
              <a:lnSpc>
                <a:spcPct val="122000"/>
              </a:lnSpc>
              <a:buNone/>
            </a:pPr>
            <a:r>
              <a:rPr lang="en-US" sz="8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New</a:t>
            </a:r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</a:t>
            </a:r>
            <a:pPr algn="l" indent="0" marL="0">
              <a:lnSpc>
                <a:spcPct val="122000"/>
              </a:lnSpc>
              <a:buNone/>
            </a:pPr>
            <a:r>
              <a:rPr lang="en-US" sz="8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Returning</a:t>
            </a:r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and </a:t>
            </a:r>
            <a:pPr algn="l" indent="0" marL="0">
              <a:lnSpc>
                <a:spcPct val="122000"/>
              </a:lnSpc>
              <a:buNone/>
            </a:pPr>
            <a:r>
              <a:rPr lang="en-US" sz="8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Loyal</a:t>
            </a:r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segments based on purchase history.</a:t>
            </a:r>
            <a:endParaRPr lang="en-US" sz="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001" y="1510457"/>
            <a:ext cx="3924970" cy="28252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02001" y="4431357"/>
            <a:ext cx="3924970" cy="300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80% of customers are Loyal</a:t>
            </a:r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(3,116), with only 83 New customers — a mature base with low acquisition. Focus should shift to retention and upsell.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610" y="329059"/>
            <a:ext cx="7375996" cy="351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Top Products by Category &amp; Revenue by Age Group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49610" y="935013"/>
            <a:ext cx="2393231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Top 3 Products per Category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49610" y="1225228"/>
            <a:ext cx="3985245" cy="1525339"/>
          </a:xfrm>
          <a:prstGeom prst="roundRect">
            <a:avLst>
              <a:gd name="adj" fmla="val 1105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4372" y="1229990"/>
            <a:ext cx="3975720" cy="30316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66812" y="1295846"/>
            <a:ext cx="221791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Category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557016" y="1295846"/>
            <a:ext cx="221791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Top Products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4372" y="1533153"/>
            <a:ext cx="3975720" cy="30316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66812" y="1599009"/>
            <a:ext cx="221791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Accessories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557016" y="1599009"/>
            <a:ext cx="221791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Jewelry, Belt, Sunglasses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4372" y="1836316"/>
            <a:ext cx="3975720" cy="30316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66812" y="1902172"/>
            <a:ext cx="221791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Clothing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557016" y="1902172"/>
            <a:ext cx="221791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Blouse, Pants, Shirt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4372" y="2139479"/>
            <a:ext cx="3975720" cy="30316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66812" y="2205335"/>
            <a:ext cx="221791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Footwear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557016" y="2205335"/>
            <a:ext cx="221791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Sandals, Shoes, Sneakers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4372" y="2442642"/>
            <a:ext cx="3975720" cy="30316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66812" y="2508498"/>
            <a:ext cx="221791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Outerwear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557016" y="2508498"/>
            <a:ext cx="221791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Jacket, Coat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49610" y="2865165"/>
            <a:ext cx="39852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Clothing</a:t>
            </a:r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dominates with 1,737 purchases — the largest category by volume.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13908" y="935013"/>
            <a:ext cx="1984995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Revenue by Age Group</a:t>
            </a:r>
            <a:endParaRPr lang="en-US" sz="11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3908" y="1225228"/>
            <a:ext cx="3985245" cy="286858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713908" y="4208413"/>
            <a:ext cx="398524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Revenue is </a:t>
            </a:r>
            <a:pPr algn="l" indent="0" marL="0">
              <a:lnSpc>
                <a:spcPct val="127000"/>
              </a:lnSpc>
              <a:buNone/>
            </a:pPr>
            <a:r>
              <a:rPr lang="en-US" sz="8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surprisingly evenly distributed</a:t>
            </a:r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across age groups. Young Adults lead at $62,143, but the gap to Seniors ($55,763) is only ~11% — no single age group dominates.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41574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Power BI Dashboard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615157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 interactive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Power BI dashboard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was built to present all insights visually, with filters for subscription status, gender, category, and shipping type.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2151608"/>
            <a:ext cx="4013895" cy="913135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620092" y="2275582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Key Metrics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0092" y="2543845"/>
            <a:ext cx="376594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Avg. Purchase: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$59.76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| Avg. Rating: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3.75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| Total Customers: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3,900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33987" y="2151608"/>
            <a:ext cx="4013895" cy="913135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4757961" y="2275582"/>
            <a:ext cx="181778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Subscription Breakdown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7961" y="2543845"/>
            <a:ext cx="376594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Donut chart: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27% Subscribers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vs. 73% Non-Subscribers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96119" y="3188717"/>
            <a:ext cx="4013895" cy="913135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620092" y="3312691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Category Analysis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0092" y="3580954"/>
            <a:ext cx="376594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Bar charts for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Revenue &amp; Sales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across Clothing, Accessories, Footwear, and Outerwear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33987" y="3188717"/>
            <a:ext cx="4013895" cy="913135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4757961" y="3312691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Age Group Insights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7961" y="3580954"/>
            <a:ext cx="376594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Horizontal bar charts comparing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Sales &amp; Revenue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across Young Adult, Middle-aged, Adult, and Senior segments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912" y="290810"/>
            <a:ext cx="7642101" cy="414545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0912" y="4549825"/>
            <a:ext cx="2879973" cy="302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1871" y="336724"/>
            <a:ext cx="4203204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Business Recommendations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41871" y="878756"/>
            <a:ext cx="8702129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Five strategic actions derived from the analysis to drive revenue, retention, and customer lifetime value.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871" y="1156543"/>
            <a:ext cx="868040" cy="5364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41871" y="1815926"/>
            <a:ext cx="1380976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Boost Subscriptions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41871" y="2047577"/>
            <a:ext cx="1972866" cy="835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Promote exclusive subscriber benefits. With 2,518 repeat buyers unsubscribed, conversion campaigns could unlock significant recurring revenue.</a:t>
            </a:r>
            <a:endParaRPr lang="en-US" sz="8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7668" y="1156543"/>
            <a:ext cx="868040" cy="53645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537668" y="1815926"/>
            <a:ext cx="1837060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Customer Loyalty Programs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2537668" y="2047577"/>
            <a:ext cx="1972866" cy="668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Reward repeat buyers to move them into the "Loyal" segment. 80% are already loyal — deepen engagement with tiered rewards.</a:t>
            </a:r>
            <a:endParaRPr lang="en-US" sz="8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466" y="1156543"/>
            <a:ext cx="868040" cy="53645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33466" y="1815926"/>
            <a:ext cx="1525042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Review Discount Policy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4633466" y="2047577"/>
            <a:ext cx="1972866" cy="835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Pants, Sweaters, and Coats show high discount dependency. Balance sales boosts with margin control — consider targeted rather than blanket discounts.</a:t>
            </a:r>
            <a:endParaRPr lang="en-US" sz="8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264" y="1156543"/>
            <a:ext cx="868040" cy="53645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729264" y="1815926"/>
            <a:ext cx="1380976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Product Positioning</a:t>
            </a:r>
            <a:endParaRPr lang="en-US" sz="1050" dirty="0"/>
          </a:p>
        </p:txBody>
      </p:sp>
      <p:sp>
        <p:nvSpPr>
          <p:cNvPr id="15" name="Text 9"/>
          <p:cNvSpPr/>
          <p:nvPr/>
        </p:nvSpPr>
        <p:spPr>
          <a:xfrm>
            <a:off x="6729264" y="2047577"/>
            <a:ext cx="1972866" cy="835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Highlight top-rated products (Gloves, Sandals, Boots) and best-sellers (Blouse, Sandals, Jewelry) in marketing campaigns to leverage existing customer satisfaction.</a:t>
            </a:r>
            <a:endParaRPr lang="en-US" sz="8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871" y="3079998"/>
            <a:ext cx="868040" cy="536451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41871" y="3739381"/>
            <a:ext cx="1380976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Targeted Marketing</a:t>
            </a:r>
            <a:endParaRPr lang="en-US" sz="1050" dirty="0"/>
          </a:p>
        </p:txBody>
      </p:sp>
      <p:sp>
        <p:nvSpPr>
          <p:cNvPr id="18" name="Text 11"/>
          <p:cNvSpPr/>
          <p:nvPr/>
        </p:nvSpPr>
        <p:spPr>
          <a:xfrm>
            <a:off x="441871" y="3971032"/>
            <a:ext cx="1972866" cy="835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Focus on high-revenue age groups (Young Adults lead at $62,143) and Express shipping users who spend $2+ more per transaction on average.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2026-05-30T05:45:56Z</dcterms:created>
  <dcterms:modified xsi:type="dcterms:W3CDTF">2026-05-30T05:45:56Z</dcterms:modified>
</cp:coreProperties>
</file>